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58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CA63-9AFD-A3B2-D30B-597DB207C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A12A6-D6D4-2DF5-1A1C-03FBF7150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04E1A-2D0C-9AF6-17BF-2509ADE1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6004C-7F9B-A46B-7C83-427862A86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402B1-C225-7609-F38C-8B7FB948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9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530DE-C8B1-B96B-FABF-C4E821DA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41DC2-F4C7-520F-DC48-877AB8A0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C7CD3-8C20-BC79-0400-C804ADC8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BC6CA-E231-395A-96B6-1215BA14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C5A9F-E8B9-EE27-4A45-F8120DBA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3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B320-EEC0-D0D3-08B3-F04A9075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C433C-A2E3-491A-3F7F-03B39ADBA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83796-2CD7-9CE3-AE0E-2D8F4E83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B3B73-58C5-389A-2D3F-772E4C97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FB3AD-67DB-03CB-1B56-0C08CB1C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4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6419-0F0A-4983-E95C-939FC250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9FF0-5C0B-A692-A9B9-FF4CA0C00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5F9AF-DAC2-5C69-E330-2CCA368A3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B2B1A-6B0D-4EE5-3D9E-11E72EB7F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547BA-F5BF-A521-D8D3-E79825F1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1897-6356-4E46-22E1-1D0DAAE2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5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0EA5-BBC2-9EDD-46A5-7DEEB04AB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2477-7499-6F2F-1AF3-D15D9758D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BA67C-A26F-96B6-F88A-B47238610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0B92A-FD8E-CE02-377B-A1C14D0E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E4247-A736-ECAC-C885-569615038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37CB1-C35B-E8E7-1C3B-BC8A55CC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FF28E-F9C4-41C9-87D4-B6D082F92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3F913-BFC7-0E4E-C234-5214DDF4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2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A890-A7C8-18C8-B36A-65F6B384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0438B-E651-DDD8-88F3-6206F421C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C7374-B214-10F5-CA7E-F7EA6820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4C60F-96DF-5CFB-9708-66731E12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696E4-8949-F965-6252-1E492705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9CF56-FA38-99A3-3E32-96D51876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1BFF8-36E3-D87E-0707-CC9B93CA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5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0149-BB1A-298A-CFE5-42037BAF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19D50-FB39-8DBC-8F38-E637F4021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D37C8-E411-1185-1DAB-CA2FC291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77D24-01D4-E5BE-6425-84D9BDDE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4078-CF46-AB09-02C1-A9C41D79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EFDAF-0589-0B5D-41DC-9ED28FB0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6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9A3C-2EB9-DC09-BB82-FDD9E29DE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50833-52C2-D6A8-E75A-97BF64B6B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EA6C3-01D1-698F-B87D-9F986793F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54E7F-3D6C-9948-071C-C9E059E4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660CB-6E1C-D7C9-631F-E29C8481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6A234-CEBD-3044-61A0-6C14A993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2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118C-2D7A-F0CD-5DB1-CE862C42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8FE31-C3E3-E741-896C-C98EB7347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5682B-ABDF-9114-549F-3090EBEC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D3545-6EB4-C25D-2E3A-6CE38B9A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DC010-7D5A-359A-7A32-79CACE5F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2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338C1-2C32-7C4A-11E0-EB438C3A2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138A1-A9CB-E8DC-D59F-1D632CDB0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90612-9554-84E1-E2C4-A2E87943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CC3C3-18FA-8381-0E17-4ADC427E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3C42E-0635-73FC-2EEC-42CBBD79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3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62D9E-78A4-1AA9-DCA5-F80BABF0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6522B-E910-9EF3-02D8-C9B2EC72E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7B048-3BC7-AF4B-2879-11C920CAA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D22B8-D4B0-4501-84A0-10CBB7D6787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45793-F967-94FF-589B-220BC621B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FA7D2-B69B-9954-4F87-012C063DA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01100-B9F3-407B-96E3-3A6DBDD89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7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0691-4A8A-5CB2-78A9-2A180A7FC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DocuMind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[Context-Aware Document Intelligence Conversational Agent]</a:t>
            </a:r>
            <a:br>
              <a:rPr lang="en-US" sz="3600" b="1" dirty="0"/>
            </a:br>
            <a:br>
              <a:rPr lang="en-US" sz="4000" b="1" dirty="0"/>
            </a:b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Building a Stateful RAG Chatbot with Django, </a:t>
            </a:r>
            <a:r>
              <a:rPr lang="en-US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LangGraph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Groq</a:t>
            </a:r>
            <a:endParaRPr lang="en-US" sz="4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29EF1-F452-4A5B-F35E-CD61E77929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Presented by: MD Anas Mondol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1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F60D-7D0A-6BD5-226C-C1F73DC2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Problem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F7C24-A599-83E2-A7C2-F9557673E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Challenge: </a:t>
            </a:r>
            <a:r>
              <a:rPr lang="en-US" dirty="0"/>
              <a:t>Organizations struggle to extract immediate value from static documents (PDFs, Manuals, Reports). Traditional search is keyword-based and lacks context.</a:t>
            </a:r>
          </a:p>
          <a:p>
            <a:endParaRPr lang="en-US" dirty="0"/>
          </a:p>
          <a:p>
            <a:r>
              <a:rPr lang="en-US" b="1" dirty="0"/>
              <a:t>The Solution: </a:t>
            </a:r>
            <a:r>
              <a:rPr lang="en-US" dirty="0"/>
              <a:t>A secure, multi-user web platform where users can upload documents and engage in a natural language "brainstorming" session with their data.</a:t>
            </a:r>
          </a:p>
        </p:txBody>
      </p:sp>
    </p:spTree>
    <p:extLst>
      <p:ext uri="{BB962C8B-B14F-4D97-AF65-F5344CB8AC3E}">
        <p14:creationId xmlns:p14="http://schemas.microsoft.com/office/powerpoint/2010/main" val="286571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E52D4-A78A-7224-70FC-06CAC126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942-92B2-83E0-CCC2-7C8A5E53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9E16-25B1-6FCC-B5FA-EA92B973A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600" b="1" dirty="0"/>
              <a:t>Backend Framework: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/>
              <a:t>Django 4.0+ </a:t>
            </a:r>
            <a:r>
              <a:rPr lang="en-US" sz="2900" dirty="0"/>
              <a:t>- Python Web Framework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Django REST Framework - API Endpoints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3600" b="1" dirty="0"/>
              <a:t>AI/ML Components: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LangGraph</a:t>
            </a:r>
            <a:r>
              <a:rPr lang="en-US" dirty="0"/>
              <a:t> - Stateful Conversation Graphs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LangChain</a:t>
            </a:r>
            <a:r>
              <a:rPr lang="en-US" dirty="0"/>
              <a:t> - Document Processing &amp; Chains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Groq</a:t>
            </a:r>
            <a:r>
              <a:rPr lang="en-US" dirty="0"/>
              <a:t> LLM - High-performance Inference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HuggingFace</a:t>
            </a:r>
            <a:r>
              <a:rPr lang="en-US" dirty="0"/>
              <a:t> Embeddings - Text Vectorization</a:t>
            </a:r>
          </a:p>
          <a:p>
            <a:endParaRPr lang="en-US" b="1" dirty="0"/>
          </a:p>
          <a:p>
            <a:r>
              <a:rPr lang="en-US" sz="3600" b="1" dirty="0"/>
              <a:t>Data Storage: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ChromaDB</a:t>
            </a:r>
            <a:r>
              <a:rPr lang="en-US" dirty="0"/>
              <a:t> - Vector Database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SQLite - Relational </a:t>
            </a:r>
            <a:r>
              <a:rPr lang="en-US" dirty="0" err="1"/>
              <a:t>Dataase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24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373C-78A8-FFEF-D750-833CC08C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3787-9785-46A6-EB86-EA30F929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Project Demo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F8F175-1A1C-CB19-7958-B3A6CF8E3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452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6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0876-B101-7C19-AD71-B251C21F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FDC9-9022-4772-46B5-9F0EFBA3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Project Demo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CBE792-94D1-373D-69DF-87F2F45FA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10515600" cy="452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3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3CBE-96CB-1721-37B9-2650CA699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3BD1-860B-E864-8B55-BDA3BB58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Project Demo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DF6BF9-FADB-3384-DD90-60C3B79E1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10515600" cy="452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0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CF07-8758-1C84-66A4-2A3F06C2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02CD-4751-3775-7A53-1CAAC4EE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Project Demo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C77546-42EA-FDEA-2BDB-C6139C332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10515600" cy="452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55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A8E4-5FA9-0356-7023-0D6FB87C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19B-A051-30B9-7999-3947BFC3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Security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4C655-C68A-E3E9-F03D-9C8AD14A2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380"/>
            <a:ext cx="10515600" cy="5184776"/>
          </a:xfrm>
        </p:spPr>
        <p:txBody>
          <a:bodyPr>
            <a:normAutofit fontScale="62500" lnSpcReduction="20000"/>
          </a:bodyPr>
          <a:lstStyle/>
          <a:p>
            <a:r>
              <a:rPr lang="en-US" sz="3800" b="1" dirty="0"/>
              <a:t>Authentication: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Django's built-in auth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@login_required decorators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Session-based authentication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Password hashing &amp; validation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3600" b="1" dirty="0"/>
              <a:t>Data Isolation: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User-specific vector store collections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Document access control by user ID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Chat history segmentation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3600" b="1" dirty="0"/>
              <a:t>Data Storage: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CSRF tokens on forms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@csrf_exempt only where needed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dirty="0"/>
              <a:t>Secure cookie handling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5385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33CC5-A234-2ADF-685D-6CCC8379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38AD-33CF-B347-759A-20B2FEAF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0B934-55D7-BD1E-5CAF-F78EC41D6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1051559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66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AC79-7D87-6D50-10BB-3CBD26E1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7BF2-C75C-ED15-1BA0-7A69CEB4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Technical 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1869-4F75-2249-EA71-EA8F7151B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380"/>
            <a:ext cx="10515600" cy="5286376"/>
          </a:xfrm>
        </p:spPr>
        <p:txBody>
          <a:bodyPr>
            <a:normAutofit fontScale="55000" lnSpcReduction="20000"/>
          </a:bodyPr>
          <a:lstStyle/>
          <a:p>
            <a:r>
              <a:rPr lang="en-US" sz="3800" b="1" dirty="0"/>
              <a:t>Challenge 1: Vector Store Compatibility</a:t>
            </a:r>
          </a:p>
          <a:p>
            <a:pPr marL="0" indent="0">
              <a:buNone/>
            </a:pPr>
            <a:r>
              <a:rPr lang="en-US" sz="3800" dirty="0"/>
              <a:t>→ Implemented fallback methods for different </a:t>
            </a:r>
            <a:r>
              <a:rPr lang="en-US" sz="3800" dirty="0" err="1"/>
              <a:t>LangChain</a:t>
            </a:r>
            <a:r>
              <a:rPr lang="en-US" sz="3800" dirty="0"/>
              <a:t> versions</a:t>
            </a:r>
          </a:p>
          <a:p>
            <a:endParaRPr lang="en-US" sz="3800" b="1" dirty="0"/>
          </a:p>
          <a:p>
            <a:r>
              <a:rPr lang="en-US" sz="3800" b="1" dirty="0"/>
              <a:t>Challenge 2: Document Loading Performance</a:t>
            </a:r>
          </a:p>
          <a:p>
            <a:pPr marL="0" indent="0">
              <a:buNone/>
            </a:pPr>
            <a:r>
              <a:rPr lang="en-US" sz="3800" dirty="0"/>
              <a:t>→ Caching with </a:t>
            </a:r>
            <a:r>
              <a:rPr lang="en-US" sz="3800" dirty="0" err="1"/>
              <a:t>doc_loaded</a:t>
            </a:r>
            <a:r>
              <a:rPr lang="en-US" sz="3800" dirty="0"/>
              <a:t> tracking</a:t>
            </a:r>
          </a:p>
          <a:p>
            <a:pPr marL="0" indent="0">
              <a:buNone/>
            </a:pPr>
            <a:r>
              <a:rPr lang="en-US" sz="3800" dirty="0"/>
              <a:t>→ Lazy loading only when needed</a:t>
            </a:r>
          </a:p>
          <a:p>
            <a:endParaRPr lang="en-US" sz="3800" b="1" dirty="0"/>
          </a:p>
          <a:p>
            <a:r>
              <a:rPr lang="en-US" sz="3800" b="1" dirty="0"/>
              <a:t>Challenge 3: Streaming Responses</a:t>
            </a:r>
          </a:p>
          <a:p>
            <a:pPr marL="0" indent="0">
              <a:buNone/>
            </a:pPr>
            <a:r>
              <a:rPr lang="en-US" sz="3800" dirty="0"/>
              <a:t>→ Word-by-word streaming implementation</a:t>
            </a:r>
          </a:p>
          <a:p>
            <a:pPr marL="0" indent="0">
              <a:buNone/>
            </a:pPr>
            <a:r>
              <a:rPr lang="en-US" sz="3800" dirty="0"/>
              <a:t>→ SSE (Server-Sent Events) pattern</a:t>
            </a:r>
          </a:p>
          <a:p>
            <a:endParaRPr lang="en-US" sz="3800" b="1" dirty="0"/>
          </a:p>
          <a:p>
            <a:r>
              <a:rPr lang="en-US" sz="3800" b="1" dirty="0"/>
              <a:t>Challenge 4: State Management</a:t>
            </a:r>
          </a:p>
          <a:p>
            <a:pPr marL="0" indent="0">
              <a:buNone/>
            </a:pPr>
            <a:r>
              <a:rPr lang="en-US" sz="3800" dirty="0"/>
              <a:t>→ </a:t>
            </a:r>
            <a:r>
              <a:rPr lang="en-US" sz="3800" dirty="0" err="1"/>
              <a:t>LangGraph's</a:t>
            </a:r>
            <a:r>
              <a:rPr lang="en-US" sz="3800" dirty="0"/>
              <a:t> built-in state handling</a:t>
            </a:r>
          </a:p>
          <a:p>
            <a:pPr marL="0" indent="0">
              <a:buNone/>
            </a:pPr>
            <a:r>
              <a:rPr lang="en-US" sz="3800" dirty="0"/>
              <a:t>→ </a:t>
            </a:r>
            <a:r>
              <a:rPr lang="en-US" sz="3800" dirty="0" err="1"/>
              <a:t>TypedDict</a:t>
            </a:r>
            <a:r>
              <a:rPr lang="en-US" sz="3800" dirty="0"/>
              <a:t> for type safety</a:t>
            </a:r>
          </a:p>
        </p:txBody>
      </p:sp>
    </p:spTree>
    <p:extLst>
      <p:ext uri="{BB962C8B-B14F-4D97-AF65-F5344CB8AC3E}">
        <p14:creationId xmlns:p14="http://schemas.microsoft.com/office/powerpoint/2010/main" val="239019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2B26-4326-3D1B-F0B1-44762D73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320E-51A5-54A1-9325-7DE170BB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Performance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496DD-8ACA-0DC7-4461-18256A695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380"/>
            <a:ext cx="10515600" cy="528637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100" b="1" dirty="0"/>
              <a:t> </a:t>
            </a:r>
            <a:r>
              <a:rPr lang="en-US" sz="3600" b="1" dirty="0"/>
              <a:t>Document Processing: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 Average processing time: 2-5 seconds per document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 Chunk size: 1000 characters (optimal for retrieval)</a:t>
            </a:r>
          </a:p>
          <a:p>
            <a:endParaRPr lang="en-US" sz="3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/>
              <a:t> Query Response: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100" dirty="0"/>
              <a:t> Retrieval time: &lt; 200ms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100" dirty="0"/>
              <a:t> LLM inference: 1-3 seconds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100" dirty="0"/>
              <a:t> Streaming latency: 50-100ms per chunk</a:t>
            </a:r>
          </a:p>
          <a:p>
            <a:endParaRPr lang="en-US" sz="3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800" b="1" dirty="0"/>
              <a:t> </a:t>
            </a:r>
            <a:r>
              <a:rPr lang="en-US" sz="3600" b="1" dirty="0"/>
              <a:t>Scalability Features: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900" dirty="0"/>
              <a:t> User-isolated vector stores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900" dirty="0"/>
              <a:t> Lazy document loading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900" dirty="0"/>
              <a:t> Connection pooling for database</a:t>
            </a:r>
          </a:p>
        </p:txBody>
      </p:sp>
    </p:spTree>
    <p:extLst>
      <p:ext uri="{BB962C8B-B14F-4D97-AF65-F5344CB8AC3E}">
        <p14:creationId xmlns:p14="http://schemas.microsoft.com/office/powerpoint/2010/main" val="2900902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56B8-643C-482A-BC23-F6E0AEF7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C92B-28F4-0D3F-C123-CA043F35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885E5-DF57-D89C-6BD7-D551AFE57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380"/>
            <a:ext cx="10515600" cy="47896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Automated Document OCR: </a:t>
            </a:r>
            <a:r>
              <a:rPr lang="en-US" dirty="0"/>
              <a:t>Integrating AWS </a:t>
            </a:r>
            <a:r>
              <a:rPr lang="en-US" dirty="0" err="1"/>
              <a:t>Textract</a:t>
            </a:r>
            <a:r>
              <a:rPr lang="en-US" dirty="0"/>
              <a:t> for scanned images.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Source Citations: </a:t>
            </a:r>
            <a:r>
              <a:rPr lang="en-US" dirty="0"/>
              <a:t>Adding metadata pointers to tell users exactly which page/file a fact came from.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Advanced Agents: </a:t>
            </a:r>
            <a:r>
              <a:rPr lang="en-US" dirty="0"/>
              <a:t>Adding a "Web Search" tool node to </a:t>
            </a:r>
            <a:r>
              <a:rPr lang="en-US" dirty="0" err="1"/>
              <a:t>LangGraph</a:t>
            </a:r>
            <a:r>
              <a:rPr lang="en-US" dirty="0"/>
              <a:t> for queries outside the document scope.</a:t>
            </a:r>
          </a:p>
        </p:txBody>
      </p:sp>
    </p:spTree>
    <p:extLst>
      <p:ext uri="{BB962C8B-B14F-4D97-AF65-F5344CB8AC3E}">
        <p14:creationId xmlns:p14="http://schemas.microsoft.com/office/powerpoint/2010/main" val="113468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687F-E5FE-8BF4-53E1-ADDFEADD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More Details 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9CB1-D4E1-9B33-1186-B34D7748F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Please, visit the following links: </a:t>
            </a:r>
          </a:p>
          <a:p>
            <a:pPr marL="0" indent="0" algn="ctr">
              <a:buNone/>
            </a:pPr>
            <a:r>
              <a:rPr lang="en-US" i="1" dirty="0"/>
              <a:t>https://github.com/Anas436/Chatbot</a:t>
            </a:r>
          </a:p>
        </p:txBody>
      </p:sp>
    </p:spTree>
    <p:extLst>
      <p:ext uri="{BB962C8B-B14F-4D97-AF65-F5344CB8AC3E}">
        <p14:creationId xmlns:p14="http://schemas.microsoft.com/office/powerpoint/2010/main" val="378735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2308-E065-23AB-6917-AE77DB88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0E392-856D-439A-C02F-D130673AE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22867"/>
            <a:ext cx="10515600" cy="483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5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420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DocuMind – [Context-Aware Document Intelligence Conversational Agent]  Building a Stateful RAG Chatbot with Django, LangGraph, and Groq</vt:lpstr>
      <vt:lpstr>The Problem &amp; Solution</vt:lpstr>
      <vt:lpstr>Technology Stack</vt:lpstr>
      <vt:lpstr>The Project Demo</vt:lpstr>
      <vt:lpstr>The Project Demo</vt:lpstr>
      <vt:lpstr>The Project Demo</vt:lpstr>
      <vt:lpstr>The Project Demo</vt:lpstr>
      <vt:lpstr>Security Implementation</vt:lpstr>
      <vt:lpstr>System Architecture</vt:lpstr>
      <vt:lpstr>Technical Challenges &amp; Solutions</vt:lpstr>
      <vt:lpstr>Performance &amp; Scalability</vt:lpstr>
      <vt:lpstr>Future Roadmap</vt:lpstr>
      <vt:lpstr>More Details about the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Anas Mondol</dc:creator>
  <cp:lastModifiedBy>Md. Anas Mondol</cp:lastModifiedBy>
  <cp:revision>16</cp:revision>
  <dcterms:created xsi:type="dcterms:W3CDTF">2026-03-19T02:41:15Z</dcterms:created>
  <dcterms:modified xsi:type="dcterms:W3CDTF">2026-03-19T04:31:24Z</dcterms:modified>
</cp:coreProperties>
</file>